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DM Sans" pitchFamily="2" charset="77"/>
      <p:regular r:id="rId13"/>
      <p:bold r:id="rId14"/>
      <p:italic r:id="rId15"/>
      <p:boldItalic r:id="rId16"/>
    </p:embeddedFont>
    <p:embeddedFont>
      <p:font typeface="DM Sans Medium" pitchFamily="2" charset="77"/>
      <p:regular r:id="rId17"/>
      <p:bold r:id="rId18"/>
      <p:italic r:id="rId19"/>
      <p:boldItalic r:id="rId20"/>
    </p:embeddedFont>
    <p:embeddedFont>
      <p:font typeface="Merriweather" pitchFamily="2" charset="77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00"/>
  </p:normalViewPr>
  <p:slideViewPr>
    <p:cSldViewPr snapToGrid="0">
      <p:cViewPr varScale="1">
        <p:scale>
          <a:sx n="91" d="100"/>
          <a:sy n="91" d="100"/>
        </p:scale>
        <p:origin x="640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3" name="Google Shape;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e2ac422adc_0_5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e2ac422adc_0_5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e2b8234f3c_8_0)">
  <p:cSld name="Generated (g3e2b8234f3c_8_0)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Relationship Id="rId5" Type="http://schemas.openxmlformats.org/officeDocument/2006/relationships/video" Target="../media/demo.mp4"/><Relationship Id="rId6" Type="http://schemas.microsoft.com/office/2007/relationships/media" Target="../media/demo.mp4"/><Relationship Id="rId7" Type="http://schemas.openxmlformats.org/officeDocument/2006/relationships/image" Target="../media/poster7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4329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4"/>
          <p:cNvSpPr/>
          <p:nvPr/>
        </p:nvSpPr>
        <p:spPr>
          <a:xfrm>
            <a:off x="5524500" y="4414242"/>
            <a:ext cx="1143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14" title="AccessibleAcademicLogo.png"/>
          <p:cNvPicPr preferRelativeResize="0"/>
          <p:nvPr/>
        </p:nvPicPr>
        <p:blipFill rotWithShape="1">
          <a:blip r:embed="rId4">
            <a:alphaModFix/>
          </a:blip>
          <a:srcRect t="16310" b="16404"/>
          <a:stretch/>
        </p:blipFill>
        <p:spPr>
          <a:xfrm>
            <a:off x="3310592" y="129898"/>
            <a:ext cx="5570862" cy="37479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4"/>
          <p:cNvSpPr txBox="1"/>
          <p:nvPr/>
        </p:nvSpPr>
        <p:spPr>
          <a:xfrm>
            <a:off x="3005112" y="3995871"/>
            <a:ext cx="6181800" cy="3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1" u="none" strike="noStrike" cap="none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Empowering Education Through AI Accessibility</a:t>
            </a:r>
            <a:endParaRPr/>
          </a:p>
        </p:txBody>
      </p:sp>
      <p:sp>
        <p:nvSpPr>
          <p:cNvPr id="89" name="Google Shape;89;p14"/>
          <p:cNvSpPr txBox="1"/>
          <p:nvPr/>
        </p:nvSpPr>
        <p:spPr>
          <a:xfrm>
            <a:off x="3005112" y="4513242"/>
            <a:ext cx="6181800" cy="12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Presented by: Adi Tapiero &amp; Matan Gurfinkel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Mentor: Dror Margalit 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00508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 Project no.</a:t>
            </a:r>
            <a:r>
              <a:rPr lang="en-US" sz="1200" dirty="0">
                <a:solidFill>
                  <a:schemeClr val="dk1"/>
                </a:solidFill>
              </a:rPr>
              <a:t>15002930</a:t>
            </a:r>
            <a:endParaRPr sz="1650" dirty="0">
              <a:solidFill>
                <a:srgbClr val="005088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90" name="Google Shape;90;p14"/>
          <p:cNvSpPr txBox="1"/>
          <p:nvPr/>
        </p:nvSpPr>
        <p:spPr>
          <a:xfrm>
            <a:off x="3005137" y="5697353"/>
            <a:ext cx="61818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Entrepreneurship </a:t>
            </a:r>
            <a:r>
              <a:rPr lang="en-US" sz="13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Workshop i</a:t>
            </a:r>
            <a:r>
              <a:rPr lang="en-US" sz="13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n Software Development</a:t>
            </a:r>
            <a:r>
              <a:rPr lang="en-US" sz="13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 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5"/>
          <p:cNvSpPr txBox="1"/>
          <p:nvPr/>
        </p:nvSpPr>
        <p:spPr>
          <a:xfrm>
            <a:off x="5562600" y="2372469"/>
            <a:ext cx="6360795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Adi's Story: Hearing Impairment</a:t>
            </a:r>
            <a:endParaRPr/>
          </a:p>
        </p:txBody>
      </p:sp>
      <p:sp>
        <p:nvSpPr>
          <p:cNvPr id="97" name="Google Shape;97;p15"/>
          <p:cNvSpPr txBox="1"/>
          <p:nvPr/>
        </p:nvSpPr>
        <p:spPr>
          <a:xfrm>
            <a:off x="5562600" y="2873794"/>
            <a:ext cx="60579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1" u="none" strike="noStrike" cap="none">
                <a:solidFill>
                  <a:srgbClr val="475569"/>
                </a:solidFill>
                <a:latin typeface="DM Sans"/>
                <a:ea typeface="DM Sans"/>
                <a:cs typeface="DM Sans"/>
                <a:sym typeface="DM Sans"/>
              </a:rPr>
              <a:t>"Accessibility shouldn't be a checkbox; it should be a commitment."</a:t>
            </a: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5562600" y="3744155"/>
            <a:ext cx="60579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Adi Tapiero, faced the daily exhaustion of following muffled lecture recordings without accurate Hebrew captions. This wasn't just a technical flaw; it was a barrier to her basic right to understand.</a:t>
            </a:r>
            <a:endParaRPr/>
          </a:p>
        </p:txBody>
      </p:sp>
      <p:sp>
        <p:nvSpPr>
          <p:cNvPr id="99" name="Google Shape;99;p15"/>
          <p:cNvSpPr txBox="1"/>
          <p:nvPr/>
        </p:nvSpPr>
        <p:spPr>
          <a:xfrm>
            <a:off x="5562600" y="5233541"/>
            <a:ext cx="60579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Accessible Academic was created to ensure no student is left behind in a digital-first world.</a:t>
            </a:r>
            <a:endParaRPr/>
          </a:p>
        </p:txBody>
      </p:sp>
      <p:sp>
        <p:nvSpPr>
          <p:cNvPr id="100" name="Google Shape;100;p15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 Mission Born from Personal Struggle</a:t>
            </a:r>
            <a:endParaRPr/>
          </a:p>
        </p:txBody>
      </p:sp>
      <p:sp>
        <p:nvSpPr>
          <p:cNvPr id="101" name="Google Shape;101;p15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0625" y="2372475"/>
            <a:ext cx="4462125" cy="2974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6"/>
          <p:cNvSpPr txBox="1"/>
          <p:nvPr/>
        </p:nvSpPr>
        <p:spPr>
          <a:xfrm>
            <a:off x="571500" y="871835"/>
            <a:ext cx="116016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Silent Barriers in Modern Education</a:t>
            </a:r>
            <a:endParaRPr/>
          </a:p>
        </p:txBody>
      </p:sp>
      <p:sp>
        <p:nvSpPr>
          <p:cNvPr id="109" name="Google Shape;109;p16"/>
          <p:cNvSpPr/>
          <p:nvPr/>
        </p:nvSpPr>
        <p:spPr>
          <a:xfrm>
            <a:off x="571500" y="1414760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0" name="Google Shape;110;p16"/>
          <p:cNvGrpSpPr/>
          <p:nvPr/>
        </p:nvGrpSpPr>
        <p:grpSpPr>
          <a:xfrm>
            <a:off x="571500" y="1905000"/>
            <a:ext cx="11049000" cy="4000500"/>
            <a:chOff x="571500" y="1905000"/>
            <a:chExt cx="11049000" cy="4000500"/>
          </a:xfrm>
        </p:grpSpPr>
        <p:sp>
          <p:nvSpPr>
            <p:cNvPr id="111" name="Google Shape;111;p16"/>
            <p:cNvSpPr/>
            <p:nvPr/>
          </p:nvSpPr>
          <p:spPr>
            <a:xfrm>
              <a:off x="57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6"/>
            <p:cNvSpPr/>
            <p:nvPr/>
          </p:nvSpPr>
          <p:spPr>
            <a:xfrm>
              <a:off x="438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6"/>
            <p:cNvSpPr/>
            <p:nvPr/>
          </p:nvSpPr>
          <p:spPr>
            <a:xfrm>
              <a:off x="8191500" y="1905000"/>
              <a:ext cx="3429000" cy="4000500"/>
            </a:xfrm>
            <a:prstGeom prst="roundRect">
              <a:avLst>
                <a:gd name="adj" fmla="val 4166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" name="Google Shape;114;p16"/>
            <p:cNvGrpSpPr/>
            <p:nvPr/>
          </p:nvGrpSpPr>
          <p:grpSpPr>
            <a:xfrm>
              <a:off x="1905000" y="2190750"/>
              <a:ext cx="762000" cy="762000"/>
              <a:chOff x="1905000" y="2190750"/>
              <a:chExt cx="762000" cy="762000"/>
            </a:xfrm>
          </p:grpSpPr>
          <p:sp>
            <p:nvSpPr>
              <p:cNvPr id="115" name="Google Shape;115;p16"/>
              <p:cNvSpPr/>
              <p:nvPr/>
            </p:nvSpPr>
            <p:spPr>
              <a:xfrm>
                <a:off x="190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6" name="icon-hearing_disabled"/>
              <p:cNvPicPr preferRelativeResize="0"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95515" y="2428001"/>
                <a:ext cx="381120" cy="381120"/>
              </a:xfrm>
              <a:prstGeom prst="rect">
                <a:avLst/>
              </a:prstGeom>
            </p:spPr>
          </p:pic>
        </p:grpSp>
        <p:grpSp>
          <p:nvGrpSpPr>
            <p:cNvPr id="117" name="Google Shape;117;p16"/>
            <p:cNvGrpSpPr/>
            <p:nvPr/>
          </p:nvGrpSpPr>
          <p:grpSpPr>
            <a:xfrm>
              <a:off x="5715000" y="2190750"/>
              <a:ext cx="762000" cy="762000"/>
              <a:chOff x="5715000" y="2190750"/>
              <a:chExt cx="762000" cy="762000"/>
            </a:xfrm>
          </p:grpSpPr>
          <p:sp>
            <p:nvSpPr>
              <p:cNvPr id="118" name="Google Shape;118;p16"/>
              <p:cNvSpPr/>
              <p:nvPr/>
            </p:nvSpPr>
            <p:spPr>
              <a:xfrm>
                <a:off x="571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7" name="icon-mic_off"/>
              <p:cNvPicPr preferRelativeResize="0"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05515" y="2428001"/>
                <a:ext cx="381120" cy="381120"/>
              </a:xfrm>
              <a:prstGeom prst="rect">
                <a:avLst/>
              </a:prstGeom>
            </p:spPr>
          </p:pic>
        </p:grpSp>
        <p:grpSp>
          <p:nvGrpSpPr>
            <p:cNvPr id="120" name="Google Shape;120;p16"/>
            <p:cNvGrpSpPr/>
            <p:nvPr/>
          </p:nvGrpSpPr>
          <p:grpSpPr>
            <a:xfrm>
              <a:off x="9525000" y="2190750"/>
              <a:ext cx="762000" cy="762000"/>
              <a:chOff x="9525000" y="2190750"/>
              <a:chExt cx="762000" cy="762000"/>
            </a:xfrm>
          </p:grpSpPr>
          <p:sp>
            <p:nvSpPr>
              <p:cNvPr id="121" name="Google Shape;121;p16"/>
              <p:cNvSpPr/>
              <p:nvPr/>
            </p:nvSpPr>
            <p:spPr>
              <a:xfrm>
                <a:off x="9525000" y="2190750"/>
                <a:ext cx="762000" cy="762000"/>
              </a:xfrm>
              <a:prstGeom prst="ellipse">
                <a:avLst/>
              </a:prstGeom>
              <a:solidFill>
                <a:srgbClr val="00508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pic>
            <p:nvPicPr>
              <p:cNvPr id="128" name="icon-dvr"/>
              <p:cNvPicPr preferRelativeResize="0"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715515" y="2428001"/>
                <a:ext cx="381120" cy="381120"/>
              </a:xfrm>
              <a:prstGeom prst="rect">
                <a:avLst/>
              </a:prstGeom>
            </p:spPr>
          </p:pic>
        </p:grpSp>
        <p:sp>
          <p:nvSpPr>
            <p:cNvPr id="123" name="Google Shape;123;p16"/>
            <p:cNvSpPr txBox="1"/>
            <p:nvPr/>
          </p:nvSpPr>
          <p:spPr>
            <a:xfrm>
              <a:off x="76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Accessibility Gap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Students who are hard of hearing struggle with recordings lacking accurate Hebrew captions.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4" name="Google Shape;124;p16"/>
            <p:cNvSpPr txBox="1"/>
            <p:nvPr/>
          </p:nvSpPr>
          <p:spPr>
            <a:xfrm>
              <a:off x="457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Poor Audio Quality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Large hall acoustics and low-quality mics make lectures muffled even for general students.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5" name="Google Shape;125;p16"/>
            <p:cNvSpPr txBox="1"/>
            <p:nvPr/>
          </p:nvSpPr>
          <p:spPr>
            <a:xfrm>
              <a:off x="8382000" y="3143250"/>
              <a:ext cx="3048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Information Overload</a:t>
              </a:r>
              <a:endParaRPr sz="20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Massive amounts of raw video content are difficult to navigate and summarize manually.</a:t>
              </a:r>
              <a:endParaRPr sz="14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93305"/>
            <a:ext cx="3492400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393305"/>
            <a:ext cx="3492549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7950" y="2393305"/>
            <a:ext cx="3492400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7"/>
          <p:cNvSpPr txBox="1"/>
          <p:nvPr/>
        </p:nvSpPr>
        <p:spPr>
          <a:xfrm>
            <a:off x="794228" y="3517255"/>
            <a:ext cx="304694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Audio Rescue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866775" y="4003030"/>
            <a:ext cx="2901900" cy="13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Intelligent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gain boosting and normalization to transform muffled hall acoustics into clear speech.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4572375" y="3517255"/>
            <a:ext cx="3047099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Accurate Hebrew STT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4644925" y="4003030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Specialized AI pipeline for Hebrew academic terminology, delivering synchronized word-level captions.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8350679" y="3517255"/>
            <a:ext cx="304694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Smart Study Suite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8423225" y="4003030"/>
            <a:ext cx="290185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Automatic extraction of key topics, summaries, and interactive flashcards to enhance retention.</a:t>
            </a:r>
            <a:endParaRPr/>
          </a:p>
        </p:txBody>
      </p:sp>
      <p:pic>
        <p:nvPicPr>
          <p:cNvPr id="140" name="Google Shape;14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31950" y="2745730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38676" y="2745730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45550" y="274573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7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Our Solution Bridges the Inclusive Gap</a:t>
            </a:r>
            <a:endParaRPr/>
          </a:p>
        </p:txBody>
      </p:sp>
      <p:sp>
        <p:nvSpPr>
          <p:cNvPr id="144" name="Google Shape;144;p17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8789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8"/>
          <p:cNvSpPr txBox="1"/>
          <p:nvPr/>
        </p:nvSpPr>
        <p:spPr>
          <a:xfrm>
            <a:off x="571500" y="871835"/>
            <a:ext cx="11601600" cy="43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 Layered AI Pipeline Architecture</a:t>
            </a:r>
            <a:endParaRPr sz="2850" b="1" i="0">
              <a:solidFill>
                <a:srgbClr val="005088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571500" y="1414758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2" name="Google Shape;152;p18"/>
          <p:cNvGrpSpPr/>
          <p:nvPr/>
        </p:nvGrpSpPr>
        <p:grpSpPr>
          <a:xfrm>
            <a:off x="571500" y="1905000"/>
            <a:ext cx="2524200" cy="4000500"/>
            <a:chOff x="571500" y="1905000"/>
            <a:chExt cx="2524200" cy="4000500"/>
          </a:xfrm>
        </p:grpSpPr>
        <p:sp>
          <p:nvSpPr>
            <p:cNvPr id="153" name="Google Shape;153;p18"/>
            <p:cNvSpPr/>
            <p:nvPr/>
          </p:nvSpPr>
          <p:spPr>
            <a:xfrm>
              <a:off x="571500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8"/>
            <p:cNvSpPr/>
            <p:nvPr/>
          </p:nvSpPr>
          <p:spPr>
            <a:xfrm>
              <a:off x="1500188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2" name="icon-volume_up"/>
            <p:cNvPicPr preferRelativeResize="0"/>
            <p:nvPr/>
          </p:nvPicPr>
          <p:blipFill>
            <a:blip r:embed="rId4"/>
            <a:stretch>
              <a:fillRect/>
            </a:stretch>
          </p:blipFill>
          <p:spPr>
            <a:xfrm>
              <a:off x="1675208" y="2353198"/>
              <a:ext cx="316635" cy="316635"/>
            </a:xfrm>
            <a:prstGeom prst="rect">
              <a:avLst/>
            </a:prstGeom>
          </p:spPr>
        </p:pic>
        <p:sp>
          <p:nvSpPr>
            <p:cNvPr id="156" name="Google Shape;156;p18"/>
            <p:cNvSpPr txBox="1"/>
            <p:nvPr/>
          </p:nvSpPr>
          <p:spPr>
            <a:xfrm>
              <a:off x="762000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Audio Enhancement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FFmpeg</a:t>
              </a:r>
              <a:br>
                <a:rPr lang="en-US" sz="13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</a:b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-driven Gain Normalization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57" name="Google Shape;157;p18"/>
          <p:cNvGrpSpPr/>
          <p:nvPr/>
        </p:nvGrpSpPr>
        <p:grpSpPr>
          <a:xfrm>
            <a:off x="3381375" y="1905000"/>
            <a:ext cx="2524200" cy="4000500"/>
            <a:chOff x="3381375" y="1905000"/>
            <a:chExt cx="2524200" cy="4000500"/>
          </a:xfrm>
        </p:grpSpPr>
        <p:sp>
          <p:nvSpPr>
            <p:cNvPr id="158" name="Google Shape;158;p18"/>
            <p:cNvSpPr/>
            <p:nvPr/>
          </p:nvSpPr>
          <p:spPr>
            <a:xfrm>
              <a:off x="3381375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18"/>
            <p:cNvSpPr/>
            <p:nvPr/>
          </p:nvSpPr>
          <p:spPr>
            <a:xfrm>
              <a:off x="4310063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3" name="icon-closed_caption"/>
            <p:cNvPicPr preferRelativeResize="0"/>
            <p:nvPr/>
          </p:nvPicPr>
          <p:blipFill>
            <a:blip r:embed="rId5"/>
            <a:stretch>
              <a:fillRect/>
            </a:stretch>
          </p:blipFill>
          <p:spPr>
            <a:xfrm>
              <a:off x="4485083" y="2353198"/>
              <a:ext cx="316635" cy="316635"/>
            </a:xfrm>
            <a:prstGeom prst="rect">
              <a:avLst/>
            </a:prstGeom>
          </p:spPr>
        </p:pic>
        <p:sp>
          <p:nvSpPr>
            <p:cNvPr id="161" name="Google Shape;161;p18"/>
            <p:cNvSpPr txBox="1"/>
            <p:nvPr/>
          </p:nvSpPr>
          <p:spPr>
            <a:xfrm>
              <a:off x="3571875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Raw Transcription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High-precision Hebrew Speech-to-Text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62" name="Google Shape;162;p18"/>
          <p:cNvGrpSpPr/>
          <p:nvPr/>
        </p:nvGrpSpPr>
        <p:grpSpPr>
          <a:xfrm>
            <a:off x="6191250" y="1905000"/>
            <a:ext cx="2524200" cy="4000500"/>
            <a:chOff x="6191250" y="1905000"/>
            <a:chExt cx="2524200" cy="4000500"/>
          </a:xfrm>
        </p:grpSpPr>
        <p:sp>
          <p:nvSpPr>
            <p:cNvPr id="163" name="Google Shape;163;p18"/>
            <p:cNvSpPr/>
            <p:nvPr/>
          </p:nvSpPr>
          <p:spPr>
            <a:xfrm>
              <a:off x="6191250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18"/>
            <p:cNvSpPr/>
            <p:nvPr/>
          </p:nvSpPr>
          <p:spPr>
            <a:xfrm>
              <a:off x="7119938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4" name="icon-psychology"/>
            <p:cNvPicPr preferRelativeResize="0"/>
            <p:nvPr/>
          </p:nvPicPr>
          <p:blipFill>
            <a:blip r:embed="rId6"/>
            <a:stretch>
              <a:fillRect/>
            </a:stretch>
          </p:blipFill>
          <p:spPr>
            <a:xfrm>
              <a:off x="7294958" y="2353198"/>
              <a:ext cx="316635" cy="316635"/>
            </a:xfrm>
            <a:prstGeom prst="rect">
              <a:avLst/>
            </a:prstGeom>
          </p:spPr>
        </p:pic>
        <p:sp>
          <p:nvSpPr>
            <p:cNvPr id="166" name="Google Shape;166;p18"/>
            <p:cNvSpPr txBox="1"/>
            <p:nvPr/>
          </p:nvSpPr>
          <p:spPr>
            <a:xfrm>
              <a:off x="6381750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Logical Refinement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GPT-4o powered Academic Grade Editing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67" name="Google Shape;167;p18"/>
          <p:cNvGrpSpPr/>
          <p:nvPr/>
        </p:nvGrpSpPr>
        <p:grpSpPr>
          <a:xfrm>
            <a:off x="9001125" y="1905000"/>
            <a:ext cx="2524200" cy="4000500"/>
            <a:chOff x="9001125" y="1905000"/>
            <a:chExt cx="2524200" cy="4000500"/>
          </a:xfrm>
        </p:grpSpPr>
        <p:sp>
          <p:nvSpPr>
            <p:cNvPr id="168" name="Google Shape;168;p18"/>
            <p:cNvSpPr/>
            <p:nvPr/>
          </p:nvSpPr>
          <p:spPr>
            <a:xfrm>
              <a:off x="9001125" y="1905000"/>
              <a:ext cx="2524200" cy="4000500"/>
            </a:xfrm>
            <a:prstGeom prst="roundRect">
              <a:avLst>
                <a:gd name="adj" fmla="val 4528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18"/>
            <p:cNvSpPr/>
            <p:nvPr/>
          </p:nvSpPr>
          <p:spPr>
            <a:xfrm>
              <a:off x="9929813" y="2143125"/>
              <a:ext cx="666900" cy="666900"/>
            </a:xfrm>
            <a:prstGeom prst="ellipse">
              <a:avLst/>
            </a:prstGeom>
            <a:solidFill>
              <a:srgbClr val="00508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75" name="icon-summarize"/>
            <p:cNvPicPr preferRelativeResize="0"/>
            <p:nvPr/>
          </p:nvPicPr>
          <p:blipFill>
            <a:blip r:embed="rId7"/>
            <a:stretch>
              <a:fillRect/>
            </a:stretch>
          </p:blipFill>
          <p:spPr>
            <a:xfrm>
              <a:off x="10104833" y="2353198"/>
              <a:ext cx="316635" cy="316635"/>
            </a:xfrm>
            <a:prstGeom prst="rect">
              <a:avLst/>
            </a:prstGeom>
          </p:spPr>
        </p:pic>
        <p:sp>
          <p:nvSpPr>
            <p:cNvPr id="171" name="Google Shape;171;p18"/>
            <p:cNvSpPr txBox="1"/>
            <p:nvPr/>
          </p:nvSpPr>
          <p:spPr>
            <a:xfrm>
              <a:off x="9191625" y="2952750"/>
              <a:ext cx="21432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Knowledge Synthesis</a:t>
              </a:r>
              <a:endParaRPr sz="16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Extraction of Summaries &amp; Flashcards</a:t>
              </a:r>
              <a:endParaRPr sz="1300" b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9"/>
          <p:cNvSpPr txBox="1"/>
          <p:nvPr/>
        </p:nvSpPr>
        <p:spPr>
          <a:xfrm>
            <a:off x="484189" y="4569767"/>
            <a:ext cx="366702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AssemblyAI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571500" y="4998392"/>
            <a:ext cx="3492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Best-in-class Hebrew STT for high accuracy in technical academic contexts.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4262337" y="4569767"/>
            <a:ext cx="3667177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OpenAI GPT-4o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4349650" y="4998392"/>
            <a:ext cx="34926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Advanced for u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nderstanding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transcript, summarization, and interactive tools.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8040640" y="4569767"/>
            <a:ext cx="366702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Python / FastAPI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8127950" y="4998392"/>
            <a:ext cx="3492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Robust, asynchronous backend for handling high-volume media processing.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Leveraging Best-of-Breed AI Engines</a:t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4950" y="1977850"/>
            <a:ext cx="3178443" cy="2381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9"/>
          <p:cNvPicPr preferRelativeResize="0"/>
          <p:nvPr/>
        </p:nvPicPr>
        <p:blipFill rotWithShape="1">
          <a:blip r:embed="rId5">
            <a:alphaModFix/>
          </a:blip>
          <a:srcRect l="4996" r="6414"/>
          <a:stretch/>
        </p:blipFill>
        <p:spPr>
          <a:xfrm>
            <a:off x="5305600" y="2344450"/>
            <a:ext cx="1580649" cy="174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873975" y="2215928"/>
            <a:ext cx="2000349" cy="200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0"/>
          <p:cNvSpPr txBox="1"/>
          <p:nvPr/>
        </p:nvSpPr>
        <p:spPr>
          <a:xfrm>
            <a:off x="1809750" y="4582120"/>
            <a:ext cx="85725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Our Pilot MVP Includes: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1809750" y="5176391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Full Hebrew/English UI Toggle | Show/Hide Synchronized Captions | Deep-Dive Summaries | Interactive Flashcards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Functional MVP Delivering Real Impact</a:t>
            </a:r>
            <a:endParaRPr/>
          </a:p>
        </p:txBody>
      </p:sp>
      <p:sp>
        <p:nvSpPr>
          <p:cNvPr id="195" name="Google Shape;195;p20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Demo video" title="demo.mp4">
            <a:hlinkClick r:id="" action="ppaction://media"/>
          </p:cNvPr>
          <p:cNvPicPr>
            <a:picLocks noGrp="1"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139071" y="1586210"/>
            <a:ext cx="3913857" cy="28435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6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2" name="Google Shape;202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1"/>
          <p:cNvSpPr txBox="1"/>
          <p:nvPr/>
        </p:nvSpPr>
        <p:spPr>
          <a:xfrm>
            <a:off x="571500" y="762000"/>
            <a:ext cx="11049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Market Landscape: Why Our Solution Stands Out</a:t>
            </a:r>
            <a:endParaRPr sz="2850" b="1">
              <a:solidFill>
                <a:srgbClr val="005088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04" name="Google Shape;204;p21"/>
          <p:cNvSpPr/>
          <p:nvPr/>
        </p:nvSpPr>
        <p:spPr>
          <a:xfrm>
            <a:off x="571500" y="1409700"/>
            <a:ext cx="11049000" cy="192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" name="Google Shape;205;p21"/>
          <p:cNvGrpSpPr/>
          <p:nvPr/>
        </p:nvGrpSpPr>
        <p:grpSpPr>
          <a:xfrm>
            <a:off x="571500" y="1809750"/>
            <a:ext cx="3429000" cy="4000500"/>
            <a:chOff x="571500" y="1809750"/>
            <a:chExt cx="3429000" cy="4000500"/>
          </a:xfrm>
        </p:grpSpPr>
        <p:sp>
          <p:nvSpPr>
            <p:cNvPr id="206" name="Google Shape;206;p21"/>
            <p:cNvSpPr/>
            <p:nvPr/>
          </p:nvSpPr>
          <p:spPr>
            <a:xfrm>
              <a:off x="57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F8FAFC"/>
            </a:solidFill>
            <a:ln w="9525" cap="flat" cmpd="sng">
              <a:solidFill>
                <a:srgbClr val="CBD5E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1"/>
            <p:cNvSpPr txBox="1"/>
            <p:nvPr/>
          </p:nvSpPr>
          <p:spPr>
            <a:xfrm>
              <a:off x="76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Generic STT Tools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8" name="Google Shape;208;p21"/>
            <p:cNvSpPr txBox="1"/>
            <p:nvPr/>
          </p:nvSpPr>
          <p:spPr>
            <a:xfrm>
              <a:off x="762000" y="2476500"/>
              <a:ext cx="3048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Otter.ai / Zoom Transcripts </a:t>
              </a:r>
              <a:r>
                <a:rPr lang="en-US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and more….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Basic accuracy in Hebrew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No academic context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09" name="Google Shape;209;p21"/>
          <p:cNvGrpSpPr/>
          <p:nvPr/>
        </p:nvGrpSpPr>
        <p:grpSpPr>
          <a:xfrm>
            <a:off x="4381500" y="1809750"/>
            <a:ext cx="3429000" cy="4000500"/>
            <a:chOff x="4381500" y="1809750"/>
            <a:chExt cx="3429000" cy="4000500"/>
          </a:xfrm>
        </p:grpSpPr>
        <p:sp>
          <p:nvSpPr>
            <p:cNvPr id="210" name="Google Shape;210;p21"/>
            <p:cNvSpPr/>
            <p:nvPr/>
          </p:nvSpPr>
          <p:spPr>
            <a:xfrm>
              <a:off x="438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F8FAFC"/>
            </a:solidFill>
            <a:ln w="9525" cap="flat" cmpd="sng">
              <a:solidFill>
                <a:srgbClr val="CBD5E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1"/>
            <p:cNvSpPr txBox="1"/>
            <p:nvPr/>
          </p:nvSpPr>
          <p:spPr>
            <a:xfrm>
              <a:off x="457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Manual Services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2" name="Google Shape;212;p21"/>
            <p:cNvSpPr txBox="1"/>
            <p:nvPr/>
          </p:nvSpPr>
          <p:spPr>
            <a:xfrm>
              <a:off x="4572000" y="2476500"/>
              <a:ext cx="3048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Human transcribers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Prohibitively expensive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• Turnaround time: 24-48h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13" name="Google Shape;213;p21"/>
          <p:cNvGrpSpPr/>
          <p:nvPr/>
        </p:nvGrpSpPr>
        <p:grpSpPr>
          <a:xfrm>
            <a:off x="8191500" y="1666875"/>
            <a:ext cx="3429000" cy="4524375"/>
            <a:chOff x="8191500" y="1666875"/>
            <a:chExt cx="3429000" cy="4524375"/>
          </a:xfrm>
        </p:grpSpPr>
        <p:sp>
          <p:nvSpPr>
            <p:cNvPr id="214" name="Google Shape;214;p21"/>
            <p:cNvSpPr/>
            <p:nvPr/>
          </p:nvSpPr>
          <p:spPr>
            <a:xfrm>
              <a:off x="8191500" y="1809750"/>
              <a:ext cx="3429000" cy="4000500"/>
            </a:xfrm>
            <a:prstGeom prst="roundRect">
              <a:avLst>
                <a:gd name="adj" fmla="val 3333"/>
              </a:avLst>
            </a:prstGeom>
            <a:solidFill>
              <a:srgbClr val="E0F2F1"/>
            </a:solidFill>
            <a:ln w="19050" cap="flat" cmpd="sng">
              <a:solidFill>
                <a:srgbClr val="11CAA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1"/>
            <p:cNvSpPr/>
            <p:nvPr/>
          </p:nvSpPr>
          <p:spPr>
            <a:xfrm>
              <a:off x="9429750" y="1666875"/>
              <a:ext cx="952500" cy="285900"/>
            </a:xfrm>
            <a:prstGeom prst="roundRect">
              <a:avLst>
                <a:gd name="adj" fmla="val 50000"/>
              </a:avLst>
            </a:prstGeom>
            <a:solidFill>
              <a:srgbClr val="11CAA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1"/>
            <p:cNvSpPr txBox="1"/>
            <p:nvPr/>
          </p:nvSpPr>
          <p:spPr>
            <a:xfrm>
              <a:off x="9429750" y="1666875"/>
              <a:ext cx="95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IDEAL CHOICE</a:t>
              </a:r>
              <a:endParaRPr sz="1000" b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7" name="Google Shape;217;p21"/>
            <p:cNvSpPr txBox="1"/>
            <p:nvPr/>
          </p:nvSpPr>
          <p:spPr>
            <a:xfrm>
              <a:off x="8382000" y="2000250"/>
              <a:ext cx="304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05088"/>
                  </a:solidFill>
                  <a:latin typeface="DM Sans"/>
                  <a:ea typeface="DM Sans"/>
                  <a:cs typeface="DM Sans"/>
                  <a:sym typeface="DM Sans"/>
                </a:rPr>
                <a:t>Accessible Academic</a:t>
              </a:r>
              <a:endParaRPr sz="1800" b="1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8" name="Google Shape;218;p21"/>
            <p:cNvSpPr txBox="1"/>
            <p:nvPr/>
          </p:nvSpPr>
          <p:spPr>
            <a:xfrm>
              <a:off x="8382000" y="2476500"/>
              <a:ext cx="30480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Specialized Hebrew STT</a:t>
              </a:r>
              <a:endParaRPr sz="1400" b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Academic Terminologies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Instant AI Study </a:t>
              </a:r>
              <a:r>
                <a:rPr lang="en-US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Materials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400">
                  <a:solidFill>
                    <a:srgbClr val="334155"/>
                  </a:solidFill>
                  <a:latin typeface="DM Sans"/>
                  <a:ea typeface="DM Sans"/>
                  <a:cs typeface="DM Sans"/>
                  <a:sym typeface="DM Sans"/>
                </a:rPr>
                <a:t>✓ Low-cost </a:t>
              </a:r>
              <a:endParaRPr sz="14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pic>
          <p:nvPicPr>
            <p:cNvPr id="219" name="Google Shape;219;p21" descr="A modern, vibrant digital interface showing perfectly synchronized Hebrew captions and clear, structured AI-generated summaries on a tablet."/>
            <p:cNvPicPr preferRelativeResize="0"/>
            <p:nvPr/>
          </p:nvPicPr>
          <p:blipFill rotWithShape="1">
            <a:blip r:embed="rId4">
              <a:alphaModFix/>
            </a:blip>
            <a:srcRect t="616" b="-19128"/>
            <a:stretch/>
          </p:blipFill>
          <p:spPr>
            <a:xfrm>
              <a:off x="8191500" y="3905250"/>
              <a:ext cx="3429000" cy="2286000"/>
            </a:xfrm>
            <a:prstGeom prst="roundRect">
              <a:avLst>
                <a:gd name="adj" fmla="val 5000"/>
              </a:avLst>
            </a:prstGeom>
            <a:noFill/>
            <a:ln>
              <a:noFill/>
            </a:ln>
          </p:spPr>
        </p:pic>
      </p:grpSp>
      <p:pic>
        <p:nvPicPr>
          <p:cNvPr id="220" name="Google Shape;220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28700" y="3719500"/>
            <a:ext cx="3134600" cy="2090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8700" y="3720013"/>
            <a:ext cx="3134600" cy="20897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853925" y="4199650"/>
            <a:ext cx="2013227" cy="1342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2"/>
          <p:cNvSpPr/>
          <p:nvPr/>
        </p:nvSpPr>
        <p:spPr>
          <a:xfrm>
            <a:off x="185737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2"/>
          <p:cNvSpPr/>
          <p:nvPr/>
        </p:nvSpPr>
        <p:spPr>
          <a:xfrm>
            <a:off x="461962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2"/>
          <p:cNvSpPr/>
          <p:nvPr/>
        </p:nvSpPr>
        <p:spPr>
          <a:xfrm>
            <a:off x="738187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2"/>
          <p:cNvSpPr/>
          <p:nvPr/>
        </p:nvSpPr>
        <p:spPr>
          <a:xfrm>
            <a:off x="10144125" y="443165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005088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2"/>
          <p:cNvSpPr/>
          <p:nvPr/>
        </p:nvSpPr>
        <p:spPr>
          <a:xfrm>
            <a:off x="571500" y="4503908"/>
            <a:ext cx="11049000" cy="381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 txBox="1"/>
          <p:nvPr/>
        </p:nvSpPr>
        <p:spPr>
          <a:xfrm>
            <a:off x="502443" y="4705201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Q1 - Validation</a:t>
            </a:r>
            <a:endParaRPr sz="1900"/>
          </a:p>
        </p:txBody>
      </p:sp>
      <p:sp>
        <p:nvSpPr>
          <p:cNvPr id="234" name="Google Shape;234;p22"/>
          <p:cNvSpPr txBox="1"/>
          <p:nvPr/>
        </p:nvSpPr>
        <p:spPr>
          <a:xfrm>
            <a:off x="571500" y="5133826"/>
            <a:ext cx="2762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Tech Validation &amp; API Testing across complex Hebrew accents.</a:t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3264693" y="2993380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Q2 - Prototype</a:t>
            </a:r>
            <a:endParaRPr sz="1900"/>
          </a:p>
        </p:txBody>
      </p:sp>
      <p:sp>
        <p:nvSpPr>
          <p:cNvPr id="236" name="Google Shape;236;p22"/>
          <p:cNvSpPr txBox="1"/>
          <p:nvPr/>
        </p:nvSpPr>
        <p:spPr>
          <a:xfrm>
            <a:off x="3333750" y="3422005"/>
            <a:ext cx="2762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PoC Implementation: Full cycle from Audio to JSON Refinement.</a:t>
            </a:r>
            <a:endParaRPr/>
          </a:p>
        </p:txBody>
      </p:sp>
      <p:sp>
        <p:nvSpPr>
          <p:cNvPr id="237" name="Google Shape;237;p22"/>
          <p:cNvSpPr txBox="1"/>
          <p:nvPr/>
        </p:nvSpPr>
        <p:spPr>
          <a:xfrm>
            <a:off x="6026943" y="4705201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Q3 - Integration</a:t>
            </a:r>
            <a:endParaRPr sz="1900"/>
          </a:p>
        </p:txBody>
      </p:sp>
      <p:sp>
        <p:nvSpPr>
          <p:cNvPr id="238" name="Google Shape;238;p22"/>
          <p:cNvSpPr txBox="1"/>
          <p:nvPr/>
        </p:nvSpPr>
        <p:spPr>
          <a:xfrm>
            <a:off x="6096000" y="5133826"/>
            <a:ext cx="2762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Delivered: Panopto Integration &amp; Institutional Automation.</a:t>
            </a:r>
            <a:endParaRPr/>
          </a:p>
        </p:txBody>
      </p:sp>
      <p:sp>
        <p:nvSpPr>
          <p:cNvPr id="239" name="Google Shape;239;p22"/>
          <p:cNvSpPr txBox="1"/>
          <p:nvPr/>
        </p:nvSpPr>
        <p:spPr>
          <a:xfrm>
            <a:off x="8789193" y="3298180"/>
            <a:ext cx="2900400" cy="2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4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Q4 - Scale</a:t>
            </a:r>
            <a:endParaRPr sz="1900"/>
          </a:p>
        </p:txBody>
      </p:sp>
      <p:sp>
        <p:nvSpPr>
          <p:cNvPr id="240" name="Google Shape;240;p22"/>
          <p:cNvSpPr txBox="1"/>
          <p:nvPr/>
        </p:nvSpPr>
        <p:spPr>
          <a:xfrm>
            <a:off x="8858250" y="3726800"/>
            <a:ext cx="30351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Current: Institutional Pilot &amp; Final Presentation at the College Fair.</a:t>
            </a:r>
            <a:endParaRPr/>
          </a:p>
        </p:txBody>
      </p:sp>
      <p:sp>
        <p:nvSpPr>
          <p:cNvPr id="241" name="Google Shape;241;p22"/>
          <p:cNvSpPr txBox="1"/>
          <p:nvPr/>
        </p:nvSpPr>
        <p:spPr>
          <a:xfrm>
            <a:off x="571500" y="871835"/>
            <a:ext cx="116014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Roadmap: From PoC to Institutional Scale</a:t>
            </a:r>
            <a:endParaRPr/>
          </a:p>
        </p:txBody>
      </p:sp>
      <p:sp>
        <p:nvSpPr>
          <p:cNvPr id="242" name="Google Shape;242;p22"/>
          <p:cNvSpPr/>
          <p:nvPr/>
        </p:nvSpPr>
        <p:spPr>
          <a:xfrm>
            <a:off x="571500" y="1414760"/>
            <a:ext cx="11049000" cy="1905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247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329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3"/>
          <p:cNvSpPr txBox="1"/>
          <p:nvPr/>
        </p:nvSpPr>
        <p:spPr>
          <a:xfrm>
            <a:off x="2465546" y="2325858"/>
            <a:ext cx="7260900" cy="125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5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Questions?</a:t>
            </a:r>
            <a:endParaRPr sz="2800"/>
          </a:p>
        </p:txBody>
      </p:sp>
      <p:sp>
        <p:nvSpPr>
          <p:cNvPr id="249" name="Google Shape;249;p23"/>
          <p:cNvSpPr/>
          <p:nvPr/>
        </p:nvSpPr>
        <p:spPr>
          <a:xfrm>
            <a:off x="5381625" y="4151682"/>
            <a:ext cx="14289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3"/>
          <p:cNvSpPr txBox="1"/>
          <p:nvPr/>
        </p:nvSpPr>
        <p:spPr>
          <a:xfrm>
            <a:off x="2638425" y="4570782"/>
            <a:ext cx="69153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Building a More Inclusive Academic Future, Together.</a:t>
            </a:r>
            <a:endParaRPr/>
          </a:p>
        </p:txBody>
      </p:sp>
      <p:sp>
        <p:nvSpPr>
          <p:cNvPr id="251" name="Google Shape;251;p23"/>
          <p:cNvSpPr txBox="1"/>
          <p:nvPr/>
        </p:nvSpPr>
        <p:spPr>
          <a:xfrm>
            <a:off x="2811150" y="5415372"/>
            <a:ext cx="691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https://github.com/adi0258/AccessibleAcademic</a:t>
            </a:r>
            <a:endParaRPr/>
          </a:p>
        </p:txBody>
      </p:sp>
      <p:sp>
        <p:nvSpPr>
          <p:cNvPr id="252" name="Google Shape;252;p23"/>
          <p:cNvSpPr txBox="1"/>
          <p:nvPr/>
        </p:nvSpPr>
        <p:spPr>
          <a:xfrm>
            <a:off x="2638425" y="5873772"/>
            <a:ext cx="6915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mata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ngu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@mta.ac.il | adita</a:t>
            </a:r>
            <a:r>
              <a:rPr lang="en-US" sz="150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@mta.ac.il</a:t>
            </a:r>
            <a:endParaRPr/>
          </a:p>
        </p:txBody>
      </p:sp>
      <p:pic>
        <p:nvPicPr>
          <p:cNvPr id="253" name="Google Shape;253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00768" y="5435622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10012" y="5930922"/>
            <a:ext cx="190500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484</Words>
  <Application>Microsoft Macintosh PowerPoint</Application>
  <PresentationFormat>Widescreen</PresentationFormat>
  <Paragraphs>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Merriweather</vt:lpstr>
      <vt:lpstr>Arial</vt:lpstr>
      <vt:lpstr>Calibri</vt:lpstr>
      <vt:lpstr>Material Icons</vt:lpstr>
      <vt:lpstr>DM Sans</vt:lpstr>
      <vt:lpstr>DM Sans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Adi Tapiero</cp:lastModifiedBy>
  <cp:revision>1</cp:revision>
  <dcterms:modified xsi:type="dcterms:W3CDTF">2026-09-02T17:04:50Z</dcterms:modified>
</cp:coreProperties>
</file>
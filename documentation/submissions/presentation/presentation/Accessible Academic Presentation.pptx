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DM Sans Medium"/>
      <p:regular r:id="rId16"/>
      <p:bold r:id="rId17"/>
      <p:italic r:id="rId18"/>
      <p:boldItalic r:id="rId19"/>
    </p:embeddedFont>
    <p:embeddedFont>
      <p:font typeface="Merriweather"/>
      <p:regular r:id="rId20"/>
      <p:bold r:id="rId21"/>
      <p:italic r:id="rId22"/>
      <p:boldItalic r:id="rId23"/>
    </p:embeddedFont>
    <p:embeddedFont>
      <p:font typeface="DM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regular.fntdata"/><Relationship Id="rId22" Type="http://schemas.openxmlformats.org/officeDocument/2006/relationships/font" Target="fonts/Merriweather-italic.fntdata"/><Relationship Id="rId21" Type="http://schemas.openxmlformats.org/officeDocument/2006/relationships/font" Target="fonts/Merriweather-bold.fntdata"/><Relationship Id="rId24" Type="http://schemas.openxmlformats.org/officeDocument/2006/relationships/font" Target="fonts/DMSans-regular.fntdata"/><Relationship Id="rId23" Type="http://schemas.openxmlformats.org/officeDocument/2006/relationships/font" Target="fonts/Merriweath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DMSans-italic.fntdata"/><Relationship Id="rId25" Type="http://schemas.openxmlformats.org/officeDocument/2006/relationships/font" Target="fonts/DMSans-bold.fntdata"/><Relationship Id="rId27" Type="http://schemas.openxmlformats.org/officeDocument/2006/relationships/font" Target="fonts/DM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DMSansMedium-bold.fntdata"/><Relationship Id="rId16" Type="http://schemas.openxmlformats.org/officeDocument/2006/relationships/font" Target="fonts/DMSansMedium-regular.fntdata"/><Relationship Id="rId19" Type="http://schemas.openxmlformats.org/officeDocument/2006/relationships/font" Target="fonts/DMSansMedium-boldItalic.fntdata"/><Relationship Id="rId18" Type="http://schemas.openxmlformats.org/officeDocument/2006/relationships/font" Target="fonts/DMSans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2ac422adc_0_5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e2ac422adc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2b8234f3c_8_0)">
  <p:cSld name="Generated (g3e2b8234f3c_8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Zu16TmcKnrPa2cd8In-iNJjR_kgx_zyQ/view" TargetMode="External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7.jpg"/><Relationship Id="rId5" Type="http://schemas.openxmlformats.org/officeDocument/2006/relationships/image" Target="../media/image10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" name="Google Shape;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329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/>
          <p:nvPr/>
        </p:nvSpPr>
        <p:spPr>
          <a:xfrm>
            <a:off x="5524500" y="4414242"/>
            <a:ext cx="1143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4" title="AccessibleAcademicLogo.png"/>
          <p:cNvPicPr preferRelativeResize="0"/>
          <p:nvPr/>
        </p:nvPicPr>
        <p:blipFill rotWithShape="1">
          <a:blip r:embed="rId4">
            <a:alphaModFix/>
          </a:blip>
          <a:srcRect b="16404" l="0" r="0" t="16310"/>
          <a:stretch/>
        </p:blipFill>
        <p:spPr>
          <a:xfrm>
            <a:off x="3310592" y="129898"/>
            <a:ext cx="5570862" cy="37479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4"/>
          <p:cNvSpPr txBox="1"/>
          <p:nvPr/>
        </p:nvSpPr>
        <p:spPr>
          <a:xfrm>
            <a:off x="3005112" y="3995871"/>
            <a:ext cx="6181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950" u="none" cap="none" strike="noStrike">
                <a:solidFill>
                  <a:srgbClr val="64748B"/>
                </a:solidFill>
                <a:latin typeface="Merriweather"/>
                <a:ea typeface="Merriweather"/>
                <a:cs typeface="Merriweather"/>
                <a:sym typeface="Merriweather"/>
              </a:rPr>
              <a:t>Empowering Education Through AI Accessibility</a:t>
            </a:r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3005112" y="4513242"/>
            <a:ext cx="6181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508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Presented by: Adi Tapiro &amp; Matan Gurfinkel</a:t>
            </a:r>
            <a:endParaRPr sz="1650">
              <a:solidFill>
                <a:srgbClr val="005088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00508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Mentor: Dror Margalit </a:t>
            </a:r>
            <a:endParaRPr sz="1650">
              <a:solidFill>
                <a:srgbClr val="005088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00508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Project no.</a:t>
            </a:r>
            <a:r>
              <a:rPr lang="en-US" sz="1200">
                <a:solidFill>
                  <a:schemeClr val="dk1"/>
                </a:solidFill>
              </a:rPr>
              <a:t>15002930</a:t>
            </a:r>
            <a:endParaRPr sz="1650">
              <a:solidFill>
                <a:srgbClr val="005088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3005137" y="5697353"/>
            <a:ext cx="6181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Entrepreneurship </a:t>
            </a:r>
            <a:r>
              <a:rPr b="0" i="0" lang="en-US" sz="135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Workshop i</a:t>
            </a:r>
            <a:r>
              <a:rPr lang="en-US" sz="135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n Software Development</a:t>
            </a:r>
            <a:r>
              <a:rPr b="0" i="0" lang="en-US" sz="135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5"/>
          <p:cNvSpPr txBox="1"/>
          <p:nvPr/>
        </p:nvSpPr>
        <p:spPr>
          <a:xfrm>
            <a:off x="5562600" y="2372469"/>
            <a:ext cx="636079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Adi's Story: Hearing Impairment</a:t>
            </a:r>
            <a:endParaRPr/>
          </a:p>
        </p:txBody>
      </p:sp>
      <p:sp>
        <p:nvSpPr>
          <p:cNvPr id="97" name="Google Shape;97;p15"/>
          <p:cNvSpPr txBox="1"/>
          <p:nvPr/>
        </p:nvSpPr>
        <p:spPr>
          <a:xfrm>
            <a:off x="5562600" y="2873794"/>
            <a:ext cx="6057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"Accessibility shouldn't be a checkbox; it should be a commitment."</a:t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5562600" y="3744155"/>
            <a:ext cx="6057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Adi Tapiro, faced the daily exhaustion of following muffled lecture recordings without accurate Hebrew captions. This wasn't just a technical flaw; it was a barrier to her basic right to understand.</a:t>
            </a: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5562600" y="5233541"/>
            <a:ext cx="6057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Accessible Academic was created to ensure no student is left behind in a digital-first world.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571500" y="871835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 Mission Born from Personal Struggle</a:t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571500" y="1414760"/>
            <a:ext cx="11049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625" y="2372475"/>
            <a:ext cx="4462125" cy="297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 txBox="1"/>
          <p:nvPr/>
        </p:nvSpPr>
        <p:spPr>
          <a:xfrm>
            <a:off x="571500" y="871835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Silent Barriers in Modern Education</a:t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571500" y="1414760"/>
            <a:ext cx="11049000" cy="192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0" name="Google Shape;110;p16"/>
          <p:cNvGrpSpPr/>
          <p:nvPr/>
        </p:nvGrpSpPr>
        <p:grpSpPr>
          <a:xfrm>
            <a:off x="571500" y="1905000"/>
            <a:ext cx="11049000" cy="4000500"/>
            <a:chOff x="571500" y="1905000"/>
            <a:chExt cx="11049000" cy="4000500"/>
          </a:xfrm>
        </p:grpSpPr>
        <p:sp>
          <p:nvSpPr>
            <p:cNvPr id="111" name="Google Shape;111;p16"/>
            <p:cNvSpPr/>
            <p:nvPr/>
          </p:nvSpPr>
          <p:spPr>
            <a:xfrm>
              <a:off x="571500" y="1905000"/>
              <a:ext cx="3429000" cy="4000500"/>
            </a:xfrm>
            <a:prstGeom prst="roundRect">
              <a:avLst>
                <a:gd fmla="val 4166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6"/>
            <p:cNvSpPr/>
            <p:nvPr/>
          </p:nvSpPr>
          <p:spPr>
            <a:xfrm>
              <a:off x="4381500" y="1905000"/>
              <a:ext cx="3429000" cy="4000500"/>
            </a:xfrm>
            <a:prstGeom prst="roundRect">
              <a:avLst>
                <a:gd fmla="val 4166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6"/>
            <p:cNvSpPr/>
            <p:nvPr/>
          </p:nvSpPr>
          <p:spPr>
            <a:xfrm>
              <a:off x="8191500" y="1905000"/>
              <a:ext cx="3429000" cy="4000500"/>
            </a:xfrm>
            <a:prstGeom prst="roundRect">
              <a:avLst>
                <a:gd fmla="val 4166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4" name="Google Shape;114;p16"/>
            <p:cNvGrpSpPr/>
            <p:nvPr/>
          </p:nvGrpSpPr>
          <p:grpSpPr>
            <a:xfrm>
              <a:off x="1905000" y="2190750"/>
              <a:ext cx="762000" cy="762000"/>
              <a:chOff x="1905000" y="2190750"/>
              <a:chExt cx="762000" cy="762000"/>
            </a:xfrm>
          </p:grpSpPr>
          <p:sp>
            <p:nvSpPr>
              <p:cNvPr id="115" name="Google Shape;115;p16"/>
              <p:cNvSpPr/>
              <p:nvPr/>
            </p:nvSpPr>
            <p:spPr>
              <a:xfrm>
                <a:off x="1905000" y="2190750"/>
                <a:ext cx="762000" cy="762000"/>
              </a:xfrm>
              <a:prstGeom prst="ellipse">
                <a:avLst/>
              </a:prstGeom>
              <a:solidFill>
                <a:srgbClr val="00508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16"/>
              <p:cNvSpPr txBox="1"/>
              <p:nvPr/>
            </p:nvSpPr>
            <p:spPr>
              <a:xfrm>
                <a:off x="2047875" y="2380361"/>
                <a:ext cx="476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960">
                    <a:solidFill>
                      <a:srgbClr val="FFFF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hearing_disabled</a:t>
                </a:r>
                <a:endParaRPr sz="296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grpSp>
          <p:nvGrpSpPr>
            <p:cNvPr id="117" name="Google Shape;117;p16"/>
            <p:cNvGrpSpPr/>
            <p:nvPr/>
          </p:nvGrpSpPr>
          <p:grpSpPr>
            <a:xfrm>
              <a:off x="5715000" y="2190750"/>
              <a:ext cx="762000" cy="762000"/>
              <a:chOff x="5715000" y="2190750"/>
              <a:chExt cx="762000" cy="762000"/>
            </a:xfrm>
          </p:grpSpPr>
          <p:sp>
            <p:nvSpPr>
              <p:cNvPr id="118" name="Google Shape;118;p16"/>
              <p:cNvSpPr/>
              <p:nvPr/>
            </p:nvSpPr>
            <p:spPr>
              <a:xfrm>
                <a:off x="5715000" y="2190750"/>
                <a:ext cx="762000" cy="762000"/>
              </a:xfrm>
              <a:prstGeom prst="ellipse">
                <a:avLst/>
              </a:prstGeom>
              <a:solidFill>
                <a:srgbClr val="00508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16"/>
              <p:cNvSpPr txBox="1"/>
              <p:nvPr/>
            </p:nvSpPr>
            <p:spPr>
              <a:xfrm>
                <a:off x="5857875" y="2380361"/>
                <a:ext cx="476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960">
                    <a:solidFill>
                      <a:srgbClr val="FFFF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mic_off</a:t>
                </a:r>
                <a:endParaRPr sz="296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grpSp>
          <p:nvGrpSpPr>
            <p:cNvPr id="120" name="Google Shape;120;p16"/>
            <p:cNvGrpSpPr/>
            <p:nvPr/>
          </p:nvGrpSpPr>
          <p:grpSpPr>
            <a:xfrm>
              <a:off x="9525000" y="2190750"/>
              <a:ext cx="762000" cy="762000"/>
              <a:chOff x="9525000" y="2190750"/>
              <a:chExt cx="762000" cy="762000"/>
            </a:xfrm>
          </p:grpSpPr>
          <p:sp>
            <p:nvSpPr>
              <p:cNvPr id="121" name="Google Shape;121;p16"/>
              <p:cNvSpPr/>
              <p:nvPr/>
            </p:nvSpPr>
            <p:spPr>
              <a:xfrm>
                <a:off x="9525000" y="2190750"/>
                <a:ext cx="762000" cy="762000"/>
              </a:xfrm>
              <a:prstGeom prst="ellipse">
                <a:avLst/>
              </a:prstGeom>
              <a:solidFill>
                <a:srgbClr val="00508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16"/>
              <p:cNvSpPr txBox="1"/>
              <p:nvPr/>
            </p:nvSpPr>
            <p:spPr>
              <a:xfrm>
                <a:off x="9667875" y="2380361"/>
                <a:ext cx="476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960">
                    <a:solidFill>
                      <a:srgbClr val="FFFF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dvr</a:t>
                </a:r>
                <a:endParaRPr sz="296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23" name="Google Shape;123;p16"/>
            <p:cNvSpPr txBox="1"/>
            <p:nvPr/>
          </p:nvSpPr>
          <p:spPr>
            <a:xfrm>
              <a:off x="762000" y="3143250"/>
              <a:ext cx="30480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Accessibility Gap</a:t>
              </a:r>
              <a:endParaRPr b="1" sz="20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Students who are hard of hearing struggle with recordings lacking accurate Hebrew captions.</a:t>
              </a:r>
              <a:endParaRPr b="0" sz="14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4" name="Google Shape;124;p16"/>
            <p:cNvSpPr txBox="1"/>
            <p:nvPr/>
          </p:nvSpPr>
          <p:spPr>
            <a:xfrm>
              <a:off x="4572000" y="3143250"/>
              <a:ext cx="30480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Poor Audio Quality</a:t>
              </a:r>
              <a:endParaRPr b="1" sz="20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Large hall acoustics and low-quality mics make lectures muffled even for general students.</a:t>
              </a:r>
              <a:endParaRPr b="0" sz="14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5" name="Google Shape;125;p16"/>
            <p:cNvSpPr txBox="1"/>
            <p:nvPr/>
          </p:nvSpPr>
          <p:spPr>
            <a:xfrm>
              <a:off x="8382000" y="3143250"/>
              <a:ext cx="30480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Information Overload</a:t>
              </a:r>
              <a:endParaRPr b="1" sz="20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Massive amounts of raw video content are difficult to navigate and summarize manually.</a:t>
              </a:r>
              <a:endParaRPr b="0" sz="14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93305"/>
            <a:ext cx="3492400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393305"/>
            <a:ext cx="3492549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393305"/>
            <a:ext cx="34924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794228" y="3517255"/>
            <a:ext cx="304694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Audio Rescue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866775" y="4003030"/>
            <a:ext cx="2901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Intelligent</a:t>
            </a: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gain boosting and normalization to transform muffled hall acoustics into clear speech.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4572375" y="3517255"/>
            <a:ext cx="304709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Accurate Hebrew STT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4644925" y="4003030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Specialized AI pipeline for Hebrew academic terminology, delivering synchronized word-level captions.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350679" y="3517255"/>
            <a:ext cx="304694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Smart Study Suite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423225" y="4003030"/>
            <a:ext cx="29018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Automatic extraction of key topics, summaries, and interactive flashcards to enhance retention.</a:t>
            </a:r>
            <a:endParaRPr/>
          </a:p>
        </p:txBody>
      </p:sp>
      <p:pic>
        <p:nvPicPr>
          <p:cNvPr descr="image.png" id="140" name="Google Shape;14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31950" y="274573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38676" y="274573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45550" y="274573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71500" y="871835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Our Solution Bridges the Inclusive Gap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571500" y="1414760"/>
            <a:ext cx="11049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8789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571500" y="871835"/>
            <a:ext cx="11601600" cy="43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 Layered AI Pipeline Architecture</a:t>
            </a:r>
            <a:endParaRPr b="1" i="0" sz="2850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571500" y="1414758"/>
            <a:ext cx="11049000" cy="192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2" name="Google Shape;152;p18"/>
          <p:cNvGrpSpPr/>
          <p:nvPr/>
        </p:nvGrpSpPr>
        <p:grpSpPr>
          <a:xfrm>
            <a:off x="571500" y="1905000"/>
            <a:ext cx="2524200" cy="4000500"/>
            <a:chOff x="571500" y="1905000"/>
            <a:chExt cx="2524200" cy="4000500"/>
          </a:xfrm>
        </p:grpSpPr>
        <p:sp>
          <p:nvSpPr>
            <p:cNvPr id="153" name="Google Shape;153;p18"/>
            <p:cNvSpPr/>
            <p:nvPr/>
          </p:nvSpPr>
          <p:spPr>
            <a:xfrm>
              <a:off x="571500" y="1905000"/>
              <a:ext cx="2524200" cy="4000500"/>
            </a:xfrm>
            <a:prstGeom prst="roundRect">
              <a:avLst>
                <a:gd fmla="val 4528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8"/>
            <p:cNvSpPr/>
            <p:nvPr/>
          </p:nvSpPr>
          <p:spPr>
            <a:xfrm>
              <a:off x="1500188" y="2143125"/>
              <a:ext cx="666900" cy="666900"/>
            </a:xfrm>
            <a:prstGeom prst="ellipse">
              <a:avLst/>
            </a:prstGeom>
            <a:solidFill>
              <a:srgbClr val="0050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8"/>
            <p:cNvSpPr txBox="1"/>
            <p:nvPr/>
          </p:nvSpPr>
          <p:spPr>
            <a:xfrm>
              <a:off x="1666875" y="2344865"/>
              <a:ext cx="3333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4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volume_up</a:t>
              </a:r>
              <a:endParaRPr sz="204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6" name="Google Shape;156;p18"/>
            <p:cNvSpPr txBox="1"/>
            <p:nvPr/>
          </p:nvSpPr>
          <p:spPr>
            <a:xfrm>
              <a:off x="762000" y="2952750"/>
              <a:ext cx="2143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Audio Enhancement</a:t>
              </a:r>
              <a:endParaRPr b="1" sz="16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FFmpeg</a:t>
              </a:r>
              <a:br>
                <a:rPr lang="en-US" sz="13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</a:br>
              <a:r>
                <a:rPr b="0" lang="en-US" sz="13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-driven Gain Normalization</a:t>
              </a:r>
              <a:endParaRPr b="0" sz="13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7" name="Google Shape;157;p18"/>
          <p:cNvGrpSpPr/>
          <p:nvPr/>
        </p:nvGrpSpPr>
        <p:grpSpPr>
          <a:xfrm>
            <a:off x="3381375" y="1905000"/>
            <a:ext cx="2524200" cy="4000500"/>
            <a:chOff x="3381375" y="1905000"/>
            <a:chExt cx="2524200" cy="4000500"/>
          </a:xfrm>
        </p:grpSpPr>
        <p:sp>
          <p:nvSpPr>
            <p:cNvPr id="158" name="Google Shape;158;p18"/>
            <p:cNvSpPr/>
            <p:nvPr/>
          </p:nvSpPr>
          <p:spPr>
            <a:xfrm>
              <a:off x="3381375" y="1905000"/>
              <a:ext cx="2524200" cy="4000500"/>
            </a:xfrm>
            <a:prstGeom prst="roundRect">
              <a:avLst>
                <a:gd fmla="val 4528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8"/>
            <p:cNvSpPr/>
            <p:nvPr/>
          </p:nvSpPr>
          <p:spPr>
            <a:xfrm>
              <a:off x="4310063" y="2143125"/>
              <a:ext cx="666900" cy="666900"/>
            </a:xfrm>
            <a:prstGeom prst="ellipse">
              <a:avLst/>
            </a:prstGeom>
            <a:solidFill>
              <a:srgbClr val="0050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8"/>
            <p:cNvSpPr txBox="1"/>
            <p:nvPr/>
          </p:nvSpPr>
          <p:spPr>
            <a:xfrm>
              <a:off x="4476750" y="2344865"/>
              <a:ext cx="3333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4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closed_caption</a:t>
              </a:r>
              <a:endParaRPr sz="204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1" name="Google Shape;161;p18"/>
            <p:cNvSpPr txBox="1"/>
            <p:nvPr/>
          </p:nvSpPr>
          <p:spPr>
            <a:xfrm>
              <a:off x="3571875" y="2952750"/>
              <a:ext cx="2143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Raw Transcription</a:t>
              </a:r>
              <a:endParaRPr b="1" sz="16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High-precision Hebrew Speech-to-Text</a:t>
              </a:r>
              <a:endParaRPr b="0" sz="13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62" name="Google Shape;162;p18"/>
          <p:cNvGrpSpPr/>
          <p:nvPr/>
        </p:nvGrpSpPr>
        <p:grpSpPr>
          <a:xfrm>
            <a:off x="6191250" y="1905000"/>
            <a:ext cx="2524200" cy="4000500"/>
            <a:chOff x="6191250" y="1905000"/>
            <a:chExt cx="2524200" cy="4000500"/>
          </a:xfrm>
        </p:grpSpPr>
        <p:sp>
          <p:nvSpPr>
            <p:cNvPr id="163" name="Google Shape;163;p18"/>
            <p:cNvSpPr/>
            <p:nvPr/>
          </p:nvSpPr>
          <p:spPr>
            <a:xfrm>
              <a:off x="6191250" y="1905000"/>
              <a:ext cx="2524200" cy="4000500"/>
            </a:xfrm>
            <a:prstGeom prst="roundRect">
              <a:avLst>
                <a:gd fmla="val 4528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8"/>
            <p:cNvSpPr/>
            <p:nvPr/>
          </p:nvSpPr>
          <p:spPr>
            <a:xfrm>
              <a:off x="7119938" y="2143125"/>
              <a:ext cx="666900" cy="666900"/>
            </a:xfrm>
            <a:prstGeom prst="ellipse">
              <a:avLst/>
            </a:prstGeom>
            <a:solidFill>
              <a:srgbClr val="0050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8"/>
            <p:cNvSpPr txBox="1"/>
            <p:nvPr/>
          </p:nvSpPr>
          <p:spPr>
            <a:xfrm>
              <a:off x="7286625" y="2344865"/>
              <a:ext cx="3333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4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04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6" name="Google Shape;166;p18"/>
            <p:cNvSpPr txBox="1"/>
            <p:nvPr/>
          </p:nvSpPr>
          <p:spPr>
            <a:xfrm>
              <a:off x="6381750" y="2952750"/>
              <a:ext cx="2143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Logical Refinement</a:t>
              </a:r>
              <a:endParaRPr b="1" sz="16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GPT-4o powered Academic Grade Editing</a:t>
              </a:r>
              <a:endParaRPr b="0" sz="13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67" name="Google Shape;167;p18"/>
          <p:cNvGrpSpPr/>
          <p:nvPr/>
        </p:nvGrpSpPr>
        <p:grpSpPr>
          <a:xfrm>
            <a:off x="9001125" y="1905000"/>
            <a:ext cx="2524200" cy="4000500"/>
            <a:chOff x="9001125" y="1905000"/>
            <a:chExt cx="2524200" cy="4000500"/>
          </a:xfrm>
        </p:grpSpPr>
        <p:sp>
          <p:nvSpPr>
            <p:cNvPr id="168" name="Google Shape;168;p18"/>
            <p:cNvSpPr/>
            <p:nvPr/>
          </p:nvSpPr>
          <p:spPr>
            <a:xfrm>
              <a:off x="9001125" y="1905000"/>
              <a:ext cx="2524200" cy="4000500"/>
            </a:xfrm>
            <a:prstGeom prst="roundRect">
              <a:avLst>
                <a:gd fmla="val 4528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8"/>
            <p:cNvSpPr/>
            <p:nvPr/>
          </p:nvSpPr>
          <p:spPr>
            <a:xfrm>
              <a:off x="9929813" y="2143125"/>
              <a:ext cx="666900" cy="666900"/>
            </a:xfrm>
            <a:prstGeom prst="ellipse">
              <a:avLst/>
            </a:prstGeom>
            <a:solidFill>
              <a:srgbClr val="0050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8"/>
            <p:cNvSpPr txBox="1"/>
            <p:nvPr/>
          </p:nvSpPr>
          <p:spPr>
            <a:xfrm>
              <a:off x="10096500" y="2344865"/>
              <a:ext cx="3333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4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summarize</a:t>
              </a:r>
              <a:endParaRPr sz="204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1" name="Google Shape;171;p18"/>
            <p:cNvSpPr txBox="1"/>
            <p:nvPr/>
          </p:nvSpPr>
          <p:spPr>
            <a:xfrm>
              <a:off x="9191625" y="2952750"/>
              <a:ext cx="2143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Knowledge Synthesis</a:t>
              </a:r>
              <a:endParaRPr b="1" sz="16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Extraction of Summaries &amp; Flashcards</a:t>
              </a:r>
              <a:endParaRPr b="0" sz="13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484189" y="4569767"/>
            <a:ext cx="366702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AssemblyAI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571500" y="4998392"/>
            <a:ext cx="349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Best-in-class Hebrew STT for high accuracy in technical academic contexts.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4262337" y="4569767"/>
            <a:ext cx="366717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OpenAI GPT-4o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4349650" y="4998392"/>
            <a:ext cx="3492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Advanced for u</a:t>
            </a: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nderstanding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transcript, summarization, and interactive tools.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8040640" y="4569767"/>
            <a:ext cx="366702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Python / FastAPI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8127950" y="4998392"/>
            <a:ext cx="349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Robust, asynchronous backend for handling high-volume media processing.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571500" y="871835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Leveraging Best-of-Breed AI Engines</a:t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571500" y="1414760"/>
            <a:ext cx="11049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950" y="1977850"/>
            <a:ext cx="3178443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5">
            <a:alphaModFix/>
          </a:blip>
          <a:srcRect b="0" l="4996" r="6414" t="0"/>
          <a:stretch/>
        </p:blipFill>
        <p:spPr>
          <a:xfrm>
            <a:off x="5305600" y="2344450"/>
            <a:ext cx="1580649" cy="174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73975" y="2215928"/>
            <a:ext cx="2000349" cy="20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 txBox="1"/>
          <p:nvPr/>
        </p:nvSpPr>
        <p:spPr>
          <a:xfrm>
            <a:off x="1809750" y="4582120"/>
            <a:ext cx="85725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Our Pilot MVP Includes: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1809750" y="5176391"/>
            <a:ext cx="857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Full Hebrew/English UI Toggle | Show/Hide Synchronized Captions | Deep-Dive Summaries | Interactive Flashcards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571500" y="871835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Functional MVP Delivering Real Impact</a:t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571500" y="1414760"/>
            <a:ext cx="11049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20" title="demo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0325" y="1586210"/>
            <a:ext cx="3791347" cy="2843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571500" y="7620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Market Landscape: Why Our Solution Stands Out</a:t>
            </a:r>
            <a:endParaRPr b="1" sz="2850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571500" y="1409700"/>
            <a:ext cx="11049000" cy="192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5" name="Google Shape;205;p21"/>
          <p:cNvGrpSpPr/>
          <p:nvPr/>
        </p:nvGrpSpPr>
        <p:grpSpPr>
          <a:xfrm>
            <a:off x="571500" y="1809750"/>
            <a:ext cx="3429000" cy="4000500"/>
            <a:chOff x="571500" y="1809750"/>
            <a:chExt cx="3429000" cy="4000500"/>
          </a:xfrm>
        </p:grpSpPr>
        <p:sp>
          <p:nvSpPr>
            <p:cNvPr id="206" name="Google Shape;206;p21"/>
            <p:cNvSpPr/>
            <p:nvPr/>
          </p:nvSpPr>
          <p:spPr>
            <a:xfrm>
              <a:off x="571500" y="1809750"/>
              <a:ext cx="3429000" cy="4000500"/>
            </a:xfrm>
            <a:prstGeom prst="roundRect">
              <a:avLst>
                <a:gd fmla="val 3333" name="adj"/>
              </a:avLst>
            </a:prstGeom>
            <a:solidFill>
              <a:srgbClr val="F8FAFC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1"/>
            <p:cNvSpPr txBox="1"/>
            <p:nvPr/>
          </p:nvSpPr>
          <p:spPr>
            <a:xfrm>
              <a:off x="762000" y="200025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Generic STT Tools</a:t>
              </a:r>
              <a:endParaRPr b="1" sz="18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08" name="Google Shape;208;p21"/>
            <p:cNvSpPr txBox="1"/>
            <p:nvPr/>
          </p:nvSpPr>
          <p:spPr>
            <a:xfrm>
              <a:off x="762000" y="2476500"/>
              <a:ext cx="3048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• Otter.ai / Zoom Transcripts </a:t>
              </a:r>
              <a:r>
                <a:rPr lang="en-US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and more….</a:t>
              </a:r>
              <a:endParaRPr sz="14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• Basic accuracy in Hebrew</a:t>
              </a:r>
              <a:endParaRPr sz="14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• No academic context</a:t>
              </a:r>
              <a:endParaRPr sz="14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09" name="Google Shape;209;p21"/>
          <p:cNvGrpSpPr/>
          <p:nvPr/>
        </p:nvGrpSpPr>
        <p:grpSpPr>
          <a:xfrm>
            <a:off x="4381500" y="1809750"/>
            <a:ext cx="3429000" cy="4000500"/>
            <a:chOff x="4381500" y="1809750"/>
            <a:chExt cx="3429000" cy="4000500"/>
          </a:xfrm>
        </p:grpSpPr>
        <p:sp>
          <p:nvSpPr>
            <p:cNvPr id="210" name="Google Shape;210;p21"/>
            <p:cNvSpPr/>
            <p:nvPr/>
          </p:nvSpPr>
          <p:spPr>
            <a:xfrm>
              <a:off x="4381500" y="1809750"/>
              <a:ext cx="3429000" cy="4000500"/>
            </a:xfrm>
            <a:prstGeom prst="roundRect">
              <a:avLst>
                <a:gd fmla="val 3333" name="adj"/>
              </a:avLst>
            </a:prstGeom>
            <a:solidFill>
              <a:srgbClr val="F8FAFC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1"/>
            <p:cNvSpPr txBox="1"/>
            <p:nvPr/>
          </p:nvSpPr>
          <p:spPr>
            <a:xfrm>
              <a:off x="4572000" y="200025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Manual Services</a:t>
              </a:r>
              <a:endParaRPr b="1" sz="18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12" name="Google Shape;212;p21"/>
            <p:cNvSpPr txBox="1"/>
            <p:nvPr/>
          </p:nvSpPr>
          <p:spPr>
            <a:xfrm>
              <a:off x="4572000" y="2476500"/>
              <a:ext cx="3048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• Human transcribers</a:t>
              </a:r>
              <a:endParaRPr sz="14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• Prohibitively expensive</a:t>
              </a:r>
              <a:endParaRPr sz="14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• Turnaround time: 24-48h</a:t>
              </a:r>
              <a:endParaRPr sz="14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13" name="Google Shape;213;p21"/>
          <p:cNvGrpSpPr/>
          <p:nvPr/>
        </p:nvGrpSpPr>
        <p:grpSpPr>
          <a:xfrm>
            <a:off x="8191500" y="1666875"/>
            <a:ext cx="3429000" cy="4524375"/>
            <a:chOff x="8191500" y="1666875"/>
            <a:chExt cx="3429000" cy="4524375"/>
          </a:xfrm>
        </p:grpSpPr>
        <p:sp>
          <p:nvSpPr>
            <p:cNvPr id="214" name="Google Shape;214;p21"/>
            <p:cNvSpPr/>
            <p:nvPr/>
          </p:nvSpPr>
          <p:spPr>
            <a:xfrm>
              <a:off x="8191500" y="1809750"/>
              <a:ext cx="3429000" cy="4000500"/>
            </a:xfrm>
            <a:prstGeom prst="roundRect">
              <a:avLst>
                <a:gd fmla="val 3333" name="adj"/>
              </a:avLst>
            </a:prstGeom>
            <a:solidFill>
              <a:srgbClr val="E0F2F1"/>
            </a:solidFill>
            <a:ln cap="flat" cmpd="sng" w="19050">
              <a:solidFill>
                <a:srgbClr val="11CA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1"/>
            <p:cNvSpPr/>
            <p:nvPr/>
          </p:nvSpPr>
          <p:spPr>
            <a:xfrm>
              <a:off x="9429750" y="1666875"/>
              <a:ext cx="952500" cy="285900"/>
            </a:xfrm>
            <a:prstGeom prst="roundRect">
              <a:avLst>
                <a:gd fmla="val 50000" name="adj"/>
              </a:avLst>
            </a:prstGeom>
            <a:solidFill>
              <a:srgbClr val="11CA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1"/>
            <p:cNvSpPr txBox="1"/>
            <p:nvPr/>
          </p:nvSpPr>
          <p:spPr>
            <a:xfrm>
              <a:off x="9429750" y="166687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IDEAL CHOICE</a:t>
              </a:r>
              <a:endParaRPr b="1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17" name="Google Shape;217;p21"/>
            <p:cNvSpPr txBox="1"/>
            <p:nvPr/>
          </p:nvSpPr>
          <p:spPr>
            <a:xfrm>
              <a:off x="8382000" y="200025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Accessible Academic</a:t>
              </a:r>
              <a:endParaRPr b="1" sz="18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18" name="Google Shape;218;p21"/>
            <p:cNvSpPr txBox="1"/>
            <p:nvPr/>
          </p:nvSpPr>
          <p:spPr>
            <a:xfrm>
              <a:off x="8382000" y="2476500"/>
              <a:ext cx="3048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✓ Specialized Hebrew STT</a:t>
              </a:r>
              <a:endParaRPr b="1" sz="14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✓ Academic Terminologies</a:t>
              </a:r>
              <a:endParaRPr sz="14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✓ Instant AI Study </a:t>
              </a:r>
              <a:r>
                <a:rPr lang="en-US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Materials</a:t>
              </a:r>
              <a:endParaRPr sz="14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✓ Low-cost </a:t>
              </a:r>
              <a:endParaRPr sz="14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pic>
          <p:nvPicPr>
            <p:cNvPr descr="A modern, vibrant digital interface showing perfectly synchronized Hebrew captions and clear, structured AI-generated summaries on a tablet." id="219" name="Google Shape;219;p21"/>
            <p:cNvPicPr preferRelativeResize="0"/>
            <p:nvPr/>
          </p:nvPicPr>
          <p:blipFill rotWithShape="1">
            <a:blip r:embed="rId4">
              <a:alphaModFix/>
            </a:blip>
            <a:srcRect b="-19128" l="0" r="0" t="616"/>
            <a:stretch/>
          </p:blipFill>
          <p:spPr>
            <a:xfrm>
              <a:off x="8191500" y="3905250"/>
              <a:ext cx="3429000" cy="2286000"/>
            </a:xfrm>
            <a:prstGeom prst="roundRect">
              <a:avLst>
                <a:gd fmla="val 5000" name="adj"/>
              </a:avLst>
            </a:prstGeom>
            <a:noFill/>
            <a:ln>
              <a:noFill/>
            </a:ln>
          </p:spPr>
        </p:pic>
      </p:grpSp>
      <p:pic>
        <p:nvPicPr>
          <p:cNvPr id="220" name="Google Shape;22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8700" y="3719500"/>
            <a:ext cx="3134600" cy="20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8700" y="3720013"/>
            <a:ext cx="3134600" cy="208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53925" y="4199650"/>
            <a:ext cx="2013227" cy="1342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/>
          <p:nvPr/>
        </p:nvSpPr>
        <p:spPr>
          <a:xfrm>
            <a:off x="1857375" y="443165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05088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4619625" y="443165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05088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7381875" y="443165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05088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10144125" y="443165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05088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71500" y="4503908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502443" y="4705201"/>
            <a:ext cx="29004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4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Q1 - Validation</a:t>
            </a:r>
            <a:endParaRPr sz="1900"/>
          </a:p>
        </p:txBody>
      </p:sp>
      <p:sp>
        <p:nvSpPr>
          <p:cNvPr id="234" name="Google Shape;234;p22"/>
          <p:cNvSpPr txBox="1"/>
          <p:nvPr/>
        </p:nvSpPr>
        <p:spPr>
          <a:xfrm>
            <a:off x="571500" y="5133826"/>
            <a:ext cx="2762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Tech Validation &amp; API Testing across complex Hebrew accents.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3264693" y="2993380"/>
            <a:ext cx="29004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4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Q2 - Prototype</a:t>
            </a:r>
            <a:endParaRPr sz="1900"/>
          </a:p>
        </p:txBody>
      </p:sp>
      <p:sp>
        <p:nvSpPr>
          <p:cNvPr id="236" name="Google Shape;236;p22"/>
          <p:cNvSpPr txBox="1"/>
          <p:nvPr/>
        </p:nvSpPr>
        <p:spPr>
          <a:xfrm>
            <a:off x="3333750" y="3422005"/>
            <a:ext cx="2762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PoC Implementation: Full cycle from Audio to JSON Refinement.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6026943" y="4705201"/>
            <a:ext cx="29004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4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Q3 - Integration</a:t>
            </a:r>
            <a:endParaRPr sz="1900"/>
          </a:p>
        </p:txBody>
      </p:sp>
      <p:sp>
        <p:nvSpPr>
          <p:cNvPr id="238" name="Google Shape;238;p22"/>
          <p:cNvSpPr txBox="1"/>
          <p:nvPr/>
        </p:nvSpPr>
        <p:spPr>
          <a:xfrm>
            <a:off x="6096000" y="5133826"/>
            <a:ext cx="2762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Current: Panopto Webhooks &amp; Institutional Automation.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8789193" y="3298180"/>
            <a:ext cx="29004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4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Q4 - Scale</a:t>
            </a:r>
            <a:endParaRPr sz="1900"/>
          </a:p>
        </p:txBody>
      </p:sp>
      <p:sp>
        <p:nvSpPr>
          <p:cNvPr id="240" name="Google Shape;240;p22"/>
          <p:cNvSpPr txBox="1"/>
          <p:nvPr/>
        </p:nvSpPr>
        <p:spPr>
          <a:xfrm>
            <a:off x="8858250" y="3726800"/>
            <a:ext cx="3035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Institutional Pilot &amp; Final Presentation at the College Fair.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571500" y="871835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Roadmap: From PoC to Institutional Scale</a:t>
            </a:r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571500" y="1414760"/>
            <a:ext cx="11049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329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 txBox="1"/>
          <p:nvPr/>
        </p:nvSpPr>
        <p:spPr>
          <a:xfrm>
            <a:off x="2465546" y="2325858"/>
            <a:ext cx="7260900" cy="12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Questions?</a:t>
            </a:r>
            <a:endParaRPr sz="2800"/>
          </a:p>
        </p:txBody>
      </p:sp>
      <p:sp>
        <p:nvSpPr>
          <p:cNvPr id="249" name="Google Shape;249;p23"/>
          <p:cNvSpPr/>
          <p:nvPr/>
        </p:nvSpPr>
        <p:spPr>
          <a:xfrm>
            <a:off x="5381625" y="4151682"/>
            <a:ext cx="14289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 txBox="1"/>
          <p:nvPr/>
        </p:nvSpPr>
        <p:spPr>
          <a:xfrm>
            <a:off x="2638425" y="4570782"/>
            <a:ext cx="6915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Building a More Inclusive Academic Future, Together.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2811150" y="5415372"/>
            <a:ext cx="6915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https://github.com/adi0258/AccessibleAcademic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2638425" y="5873772"/>
            <a:ext cx="6915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mata</a:t>
            </a: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ngu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@mta.ac.il | adita</a:t>
            </a: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@mta.ac.il</a:t>
            </a:r>
            <a:endParaRPr/>
          </a:p>
        </p:txBody>
      </p:sp>
      <p:pic>
        <p:nvPicPr>
          <p:cNvPr descr="image.png" id="253" name="Google Shape;25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00768" y="543562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10012" y="5930922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